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59" r:id="rId6"/>
    <p:sldId id="261" r:id="rId7"/>
    <p:sldId id="264" r:id="rId8"/>
    <p:sldId id="265" r:id="rId9"/>
    <p:sldId id="270" r:id="rId10"/>
    <p:sldId id="269" r:id="rId11"/>
    <p:sldId id="268" r:id="rId12"/>
  </p:sldIdLst>
  <p:sldSz cx="9144000" cy="5143500" type="screen16x9"/>
  <p:notesSz cx="6858000" cy="9144000"/>
  <p:embeddedFontLst>
    <p:embeddedFont>
      <p:font typeface="Assistant" pitchFamily="2" charset="-79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58a256b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3a58a256b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For the purposes of understanding the steps, we will use these terms…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But other terms are not incorrect!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8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5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18" name="Google Shape;18;p2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" name="Google Shape;19;p2"/>
            <p:cNvPicPr preferRelativeResize="0"/>
            <p:nvPr/>
          </p:nvPicPr>
          <p:blipFill rotWithShape="1">
            <a:blip r:embed="rId2">
              <a:alphaModFix/>
            </a:blip>
            <a:srcRect l="377" r="386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2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6" name="Google Shape;26;p2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lang="en" sz="1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and contact">
  <p:cSld name="MAIN_POINT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6"/>
          <p:cNvGrpSpPr/>
          <p:nvPr/>
        </p:nvGrpSpPr>
        <p:grpSpPr>
          <a:xfrm rot="2700000">
            <a:off x="585683" y="481417"/>
            <a:ext cx="694882" cy="564848"/>
            <a:chOff x="919500" y="1916075"/>
            <a:chExt cx="1067700" cy="867900"/>
          </a:xfrm>
        </p:grpSpPr>
        <p:sp>
          <p:nvSpPr>
            <p:cNvPr id="51" name="Google Shape;51;p6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p6"/>
          <p:cNvGrpSpPr/>
          <p:nvPr/>
        </p:nvGrpSpPr>
        <p:grpSpPr>
          <a:xfrm rot="8100000">
            <a:off x="7746888" y="3437645"/>
            <a:ext cx="912919" cy="742084"/>
            <a:chOff x="521400" y="3135325"/>
            <a:chExt cx="1067700" cy="867900"/>
          </a:xfrm>
        </p:grpSpPr>
        <p:sp>
          <p:nvSpPr>
            <p:cNvPr id="54" name="Google Shape;54;p6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>
  <p:cSld name="SECTION_HEADER">
    <p:bg>
      <p:bgPr>
        <a:noFill/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ubTitle" idx="1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0" name="Google Shape;70;p9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lang="en" sz="1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72" name="Google Shape;72;p9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9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74" name="Google Shape;74;p9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5" name="Google Shape;75;p9"/>
            <p:cNvPicPr preferRelativeResize="0"/>
            <p:nvPr/>
          </p:nvPicPr>
          <p:blipFill rotWithShape="1">
            <a:blip r:embed="rId2">
              <a:alphaModFix/>
            </a:blip>
            <a:srcRect l="377" r="386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0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0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noFill/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1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2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body" idx="2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body" idx="3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body" idx="1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subTitle" idx="1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body" idx="2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_NUMB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 hasCustomPrompt="1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_NUMBER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title" idx="2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3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title" idx="4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body" idx="5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sz="28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7157996" y="4762665"/>
            <a:ext cx="1308600" cy="27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10;p1"/>
          <p:cNvGrpSpPr/>
          <p:nvPr/>
        </p:nvGrpSpPr>
        <p:grpSpPr>
          <a:xfrm>
            <a:off x="8458848" y="343116"/>
            <a:ext cx="381300" cy="576000"/>
            <a:chOff x="8458848" y="343116"/>
            <a:chExt cx="381300" cy="576000"/>
          </a:xfrm>
        </p:grpSpPr>
        <p:sp>
          <p:nvSpPr>
            <p:cNvPr id="11" name="Google Shape;11;p1"/>
            <p:cNvSpPr/>
            <p:nvPr/>
          </p:nvSpPr>
          <p:spPr>
            <a:xfrm>
              <a:off x="8458848" y="343116"/>
              <a:ext cx="381300" cy="57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" name="Google Shape;12;p1"/>
            <p:cNvPicPr preferRelativeResize="0"/>
            <p:nvPr/>
          </p:nvPicPr>
          <p:blipFill rotWithShape="1">
            <a:blip r:embed="rId20">
              <a:alphaModFix/>
            </a:blip>
            <a:srcRect l="79" r="79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ysterymeatie/stem-occupation-with-stats-of-women-by-us-citie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learn.microsoft.com/en-us/power-apps/user/visualize-in-power-bi" TargetMode="External"/><Relationship Id="rId4" Type="http://schemas.openxmlformats.org/officeDocument/2006/relationships/hyperlink" Target="https://colab.research.google.com/github/adelnehme/cleaning-data-in-python-live-training/blob/master/Cleaning_Data_in_Python_live_session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3684" y="237450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599534-3B43-E3F1-BC33-7137053E1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70" y="1269613"/>
            <a:ext cx="5547841" cy="3200677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312F6393-682B-AD29-8127-65AF36943FCE}"/>
              </a:ext>
            </a:extLst>
          </p:cNvPr>
          <p:cNvSpPr/>
          <p:nvPr/>
        </p:nvSpPr>
        <p:spPr>
          <a:xfrm>
            <a:off x="1380813" y="1532660"/>
            <a:ext cx="3653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600"/>
              </a:lnSpc>
              <a:spcAft>
                <a:spcPts val="1200"/>
              </a:spcAft>
              <a:buClrTx/>
              <a:buFontTx/>
              <a:buNone/>
            </a:pPr>
            <a:r>
              <a:rPr lang="en-US" sz="3600" b="1" kern="120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in STEM</a:t>
            </a:r>
            <a:endParaRPr lang="en-US" sz="3600" kern="1200" dirty="0">
              <a:solidFill>
                <a:srgbClr val="7030A0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0B7707E-47DD-E744-77AC-5541D14A1D9E}"/>
              </a:ext>
            </a:extLst>
          </p:cNvPr>
          <p:cNvSpPr/>
          <p:nvPr/>
        </p:nvSpPr>
        <p:spPr>
          <a:xfrm>
            <a:off x="1052929" y="2184151"/>
            <a:ext cx="468287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00"/>
              </a:lnSpc>
              <a:spcAft>
                <a:spcPts val="1800"/>
              </a:spcAft>
              <a:buClrTx/>
              <a:buFontTx/>
              <a:buNone/>
            </a:pPr>
            <a:r>
              <a:rPr lang="en-US" sz="2250" b="1" kern="1200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Analyzing Gender Representation Across 117 U.S. Cities</a:t>
            </a:r>
            <a:endParaRPr lang="en-US" sz="2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87645DC-B759-E22E-DC65-8452E5B6947A}"/>
              </a:ext>
            </a:extLst>
          </p:cNvPr>
          <p:cNvSpPr/>
          <p:nvPr/>
        </p:nvSpPr>
        <p:spPr>
          <a:xfrm>
            <a:off x="1052928" y="3132860"/>
            <a:ext cx="46828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  <a:spcAft>
                <a:spcPts val="900"/>
              </a:spcAft>
              <a:buClrTx/>
              <a:buFontTx/>
              <a:buNone/>
            </a:pPr>
            <a:r>
              <a:rPr lang="en-US" sz="1500" kern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Project (2015-2019)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06FBD3E7-632B-D9EA-324D-1822D4D16799}"/>
              </a:ext>
            </a:extLst>
          </p:cNvPr>
          <p:cNvSpPr/>
          <p:nvPr/>
        </p:nvSpPr>
        <p:spPr>
          <a:xfrm>
            <a:off x="1163765" y="3607187"/>
            <a:ext cx="468287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  <a:buClrTx/>
              <a:buFontTx/>
              <a:buNone/>
            </a:pPr>
            <a:r>
              <a:rPr lang="en-US" sz="1350" kern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Adedokun Rohi </a:t>
            </a:r>
            <a:r>
              <a:rPr lang="en-US" sz="1350" kern="12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Kunmi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algn="ctr">
              <a:lnSpc>
                <a:spcPts val="2100"/>
              </a:lnSpc>
              <a:buClrTx/>
              <a:buFontTx/>
              <a:buNone/>
            </a:pPr>
            <a:r>
              <a:rPr lang="en-US" sz="1350" kern="1200" dirty="0">
                <a:solidFill>
                  <a:srgbClr val="6B7280"/>
                </a:solidFill>
                <a:latin typeface="Arial" pitchFamily="34" charset="0"/>
                <a:ea typeface="+mn-ea"/>
                <a:cs typeface="Arial" pitchFamily="34" charset="-120"/>
              </a:rPr>
              <a:t>02.12.2025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23">
            <a:extLst>
              <a:ext uri="{FF2B5EF4-FFF2-40B4-BE49-F238E27FC236}">
                <a16:creationId xmlns:a16="http://schemas.microsoft.com/office/drawing/2014/main" id="{90E86AAF-4FF3-7BA0-3AF4-523B5C95C944}"/>
              </a:ext>
            </a:extLst>
          </p:cNvPr>
          <p:cNvSpPr/>
          <p:nvPr/>
        </p:nvSpPr>
        <p:spPr>
          <a:xfrm>
            <a:off x="4674939" y="1666949"/>
            <a:ext cx="4114800" cy="428625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5221200" y="4811200"/>
            <a:ext cx="3922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https://ischoolonline.berkeley.edu/data-science/what-is-data-science/</a:t>
            </a:r>
            <a:endParaRPr sz="10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05A20A8E-A1A1-8138-EEB1-C677794E225B}"/>
              </a:ext>
            </a:extLst>
          </p:cNvPr>
          <p:cNvSpPr/>
          <p:nvPr/>
        </p:nvSpPr>
        <p:spPr>
          <a:xfrm>
            <a:off x="381000" y="833438"/>
            <a:ext cx="8382000" cy="0"/>
          </a:xfrm>
          <a:prstGeom prst="line">
            <a:avLst/>
          </a:prstGeom>
          <a:noFill/>
          <a:ln w="28575">
            <a:solidFill>
              <a:srgbClr val="E91E63"/>
            </a:solidFill>
            <a:prstDash val="solid"/>
          </a:ln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91559B0-1FBB-07AE-5134-41987B241EB6}"/>
              </a:ext>
            </a:extLst>
          </p:cNvPr>
          <p:cNvSpPr/>
          <p:nvPr/>
        </p:nvSpPr>
        <p:spPr>
          <a:xfrm>
            <a:off x="381000" y="28575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  <a:buClrTx/>
              <a:buFontTx/>
              <a:buNone/>
            </a:pPr>
            <a:r>
              <a:rPr lang="en-US" sz="2700" b="1" kern="1200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Agenda</a:t>
            </a:r>
            <a:endParaRPr lang="en-US" sz="27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9E90F6F-35B3-897F-44B1-C8F97F17CF3B}"/>
              </a:ext>
            </a:extLst>
          </p:cNvPr>
          <p:cNvSpPr/>
          <p:nvPr/>
        </p:nvSpPr>
        <p:spPr>
          <a:xfrm>
            <a:off x="381000" y="1363551"/>
            <a:ext cx="4114800" cy="428625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ED62352-52F4-C27D-2632-F84C0C2E5AF5}"/>
              </a:ext>
            </a:extLst>
          </p:cNvPr>
          <p:cNvSpPr/>
          <p:nvPr/>
        </p:nvSpPr>
        <p:spPr>
          <a:xfrm>
            <a:off x="400050" y="1363551"/>
            <a:ext cx="0" cy="428625"/>
          </a:xfrm>
          <a:prstGeom prst="line">
            <a:avLst/>
          </a:prstGeom>
          <a:noFill/>
          <a:ln w="38100">
            <a:solidFill>
              <a:srgbClr val="6B46C1"/>
            </a:solidFill>
            <a:prstDash val="solid"/>
          </a:ln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2244CA39-2DCA-FBFE-4AA1-D1EE6578735A}"/>
              </a:ext>
            </a:extLst>
          </p:cNvPr>
          <p:cNvSpPr/>
          <p:nvPr/>
        </p:nvSpPr>
        <p:spPr>
          <a:xfrm>
            <a:off x="571500" y="1477851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75"/>
              </a:lnSpc>
              <a:buClrTx/>
              <a:buFontTx/>
              <a:buNone/>
            </a:pPr>
            <a:r>
              <a:rPr lang="en-US" sz="1125" b="1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Statement &amp; Dataset Overview </a:t>
            </a:r>
            <a:endParaRPr lang="en-US" sz="112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D34D3A6-866A-39CD-25CE-886DEDDF820C}"/>
              </a:ext>
            </a:extLst>
          </p:cNvPr>
          <p:cNvSpPr/>
          <p:nvPr/>
        </p:nvSpPr>
        <p:spPr>
          <a:xfrm>
            <a:off x="400050" y="1895837"/>
            <a:ext cx="4114800" cy="428625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ED3F180E-C1C3-E37E-2E4A-125FFD49146F}"/>
              </a:ext>
            </a:extLst>
          </p:cNvPr>
          <p:cNvSpPr/>
          <p:nvPr/>
        </p:nvSpPr>
        <p:spPr>
          <a:xfrm>
            <a:off x="590550" y="201013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75"/>
              </a:lnSpc>
              <a:buClrTx/>
              <a:buFontTx/>
              <a:buNone/>
            </a:pPr>
            <a:r>
              <a:rPr lang="en-US" sz="1125" b="1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Cleaning</a:t>
            </a:r>
            <a:endParaRPr lang="en-US" sz="112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E8123E03-F87F-8B7F-B6F9-51BBE0906AE0}"/>
              </a:ext>
            </a:extLst>
          </p:cNvPr>
          <p:cNvSpPr/>
          <p:nvPr/>
        </p:nvSpPr>
        <p:spPr>
          <a:xfrm>
            <a:off x="381000" y="2453153"/>
            <a:ext cx="4114800" cy="428625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9BCAAE5F-C198-40F0-63AD-21F4D8FF13F6}"/>
              </a:ext>
            </a:extLst>
          </p:cNvPr>
          <p:cNvSpPr/>
          <p:nvPr/>
        </p:nvSpPr>
        <p:spPr>
          <a:xfrm>
            <a:off x="571500" y="256745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75"/>
              </a:lnSpc>
              <a:buClrTx/>
              <a:buFontTx/>
              <a:buNone/>
            </a:pPr>
            <a:r>
              <a:rPr lang="en-US" sz="1125" b="1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Key Findings</a:t>
            </a:r>
            <a:endParaRPr lang="en-US" sz="112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B11A1D66-F74A-FF3C-42DC-B231680C0C8D}"/>
              </a:ext>
            </a:extLst>
          </p:cNvPr>
          <p:cNvSpPr/>
          <p:nvPr/>
        </p:nvSpPr>
        <p:spPr>
          <a:xfrm>
            <a:off x="4674939" y="1666949"/>
            <a:ext cx="0" cy="428625"/>
          </a:xfrm>
          <a:prstGeom prst="line">
            <a:avLst/>
          </a:prstGeom>
          <a:noFill/>
          <a:ln w="38100">
            <a:solidFill>
              <a:srgbClr val="6B46C1"/>
            </a:solidFill>
            <a:prstDash val="solid"/>
          </a:ln>
        </p:spPr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2F5B3D42-DD66-A17F-B319-9E59F2ECE6E7}"/>
              </a:ext>
            </a:extLst>
          </p:cNvPr>
          <p:cNvSpPr/>
          <p:nvPr/>
        </p:nvSpPr>
        <p:spPr>
          <a:xfrm>
            <a:off x="381000" y="2995212"/>
            <a:ext cx="4114800" cy="428625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FD4B68F4-CF87-0FC4-15B7-C3C447A6FC41}"/>
              </a:ext>
            </a:extLst>
          </p:cNvPr>
          <p:cNvSpPr/>
          <p:nvPr/>
        </p:nvSpPr>
        <p:spPr>
          <a:xfrm>
            <a:off x="571500" y="310951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75"/>
              </a:lnSpc>
              <a:buClrTx/>
              <a:buFontTx/>
              <a:buNone/>
            </a:pPr>
            <a:r>
              <a:rPr lang="en-US" sz="1125" b="1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Pay Equity &amp; Growth</a:t>
            </a:r>
            <a:endParaRPr lang="en-US" sz="112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E8F3A57C-B339-FF52-9109-D39E6A5A3A5E}"/>
              </a:ext>
            </a:extLst>
          </p:cNvPr>
          <p:cNvSpPr/>
          <p:nvPr/>
        </p:nvSpPr>
        <p:spPr>
          <a:xfrm>
            <a:off x="4865439" y="1781249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75"/>
              </a:lnSpc>
              <a:buClrTx/>
              <a:buFontTx/>
              <a:buNone/>
            </a:pPr>
            <a:r>
              <a:rPr lang="en-US" sz="1125" b="1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Dashboard Demo</a:t>
            </a:r>
            <a:endParaRPr lang="en-US" sz="112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62CB17C4-666C-44D9-D973-58B3720B56E4}"/>
              </a:ext>
            </a:extLst>
          </p:cNvPr>
          <p:cNvSpPr/>
          <p:nvPr/>
        </p:nvSpPr>
        <p:spPr>
          <a:xfrm>
            <a:off x="4674939" y="2752799"/>
            <a:ext cx="4114800" cy="428625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5B62DAD4-8389-0AF5-61AF-8EB61EFF36C5}"/>
              </a:ext>
            </a:extLst>
          </p:cNvPr>
          <p:cNvSpPr/>
          <p:nvPr/>
        </p:nvSpPr>
        <p:spPr>
          <a:xfrm>
            <a:off x="4693989" y="2752799"/>
            <a:ext cx="0" cy="428625"/>
          </a:xfrm>
          <a:prstGeom prst="line">
            <a:avLst/>
          </a:prstGeom>
          <a:noFill/>
          <a:ln w="38100">
            <a:solidFill>
              <a:srgbClr val="6B46C1"/>
            </a:solidFill>
            <a:prstDash val="solid"/>
          </a:ln>
        </p:spPr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82A8FD00-D940-37D9-A642-37ECD12010AE}"/>
              </a:ext>
            </a:extLst>
          </p:cNvPr>
          <p:cNvSpPr/>
          <p:nvPr/>
        </p:nvSpPr>
        <p:spPr>
          <a:xfrm>
            <a:off x="4865439" y="2867099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75"/>
              </a:lnSpc>
              <a:buClrTx/>
              <a:buFontTx/>
              <a:buNone/>
            </a:pPr>
            <a:r>
              <a:rPr lang="en-US" sz="1125" b="1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Ethical Considerations</a:t>
            </a:r>
            <a:endParaRPr lang="en-US" sz="112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6B7232C9-5D84-3E44-500F-4831E9D9D520}"/>
              </a:ext>
            </a:extLst>
          </p:cNvPr>
          <p:cNvSpPr/>
          <p:nvPr/>
        </p:nvSpPr>
        <p:spPr>
          <a:xfrm>
            <a:off x="4655126" y="2210162"/>
            <a:ext cx="4114800" cy="428625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9A132C57-EE6C-499A-D5B5-02CE762312A1}"/>
              </a:ext>
            </a:extLst>
          </p:cNvPr>
          <p:cNvSpPr/>
          <p:nvPr/>
        </p:nvSpPr>
        <p:spPr>
          <a:xfrm>
            <a:off x="4685144" y="2210162"/>
            <a:ext cx="0" cy="428625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C73EB301-1626-11F3-5EDB-6FD37D7AB6DD}"/>
              </a:ext>
            </a:extLst>
          </p:cNvPr>
          <p:cNvSpPr/>
          <p:nvPr/>
        </p:nvSpPr>
        <p:spPr>
          <a:xfrm>
            <a:off x="4845626" y="232446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75"/>
              </a:lnSpc>
              <a:buClrTx/>
              <a:buFontTx/>
              <a:buNone/>
            </a:pPr>
            <a:r>
              <a:rPr lang="en-US" sz="1125" b="1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Conclusions &amp; Recommendations</a:t>
            </a:r>
            <a:endParaRPr lang="en-US" sz="112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69285620-355F-EC4C-D7A4-5C897F390747}"/>
              </a:ext>
            </a:extLst>
          </p:cNvPr>
          <p:cNvSpPr/>
          <p:nvPr/>
        </p:nvSpPr>
        <p:spPr>
          <a:xfrm>
            <a:off x="402936" y="2449401"/>
            <a:ext cx="0" cy="428625"/>
          </a:xfrm>
          <a:prstGeom prst="line">
            <a:avLst/>
          </a:prstGeom>
          <a:noFill/>
          <a:ln w="38100">
            <a:solidFill>
              <a:srgbClr val="6B46C1"/>
            </a:solidFill>
            <a:prstDash val="solid"/>
          </a:ln>
        </p:spPr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2528D111-BDD6-F4C5-2FC2-449164AADDC3}"/>
              </a:ext>
            </a:extLst>
          </p:cNvPr>
          <p:cNvSpPr/>
          <p:nvPr/>
        </p:nvSpPr>
        <p:spPr>
          <a:xfrm>
            <a:off x="400050" y="1895837"/>
            <a:ext cx="0" cy="428625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AE5A65F9-6D15-8B28-32CE-54947C146D6C}"/>
              </a:ext>
            </a:extLst>
          </p:cNvPr>
          <p:cNvSpPr/>
          <p:nvPr/>
        </p:nvSpPr>
        <p:spPr>
          <a:xfrm>
            <a:off x="412173" y="2995212"/>
            <a:ext cx="0" cy="428625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800" y="3581399"/>
            <a:ext cx="1896623" cy="14555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06BA07B8-4C5D-EF0B-3CF0-B39CD5F7B9AF}"/>
              </a:ext>
            </a:extLst>
          </p:cNvPr>
          <p:cNvSpPr/>
          <p:nvPr/>
        </p:nvSpPr>
        <p:spPr>
          <a:xfrm>
            <a:off x="381000" y="978911"/>
            <a:ext cx="8382000" cy="0"/>
          </a:xfrm>
          <a:prstGeom prst="line">
            <a:avLst/>
          </a:prstGeom>
          <a:noFill/>
          <a:ln w="28575">
            <a:solidFill>
              <a:srgbClr val="E91E63"/>
            </a:solidFill>
            <a:prstDash val="solid"/>
          </a:ln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17F74808-5114-EDEB-69A4-F792FC58AF43}"/>
              </a:ext>
            </a:extLst>
          </p:cNvPr>
          <p:cNvSpPr/>
          <p:nvPr/>
        </p:nvSpPr>
        <p:spPr>
          <a:xfrm>
            <a:off x="400050" y="52657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3200" b="1">
                <a:solidFill>
                  <a:srgbClr val="6B46C1"/>
                </a:solidFill>
              </a:defRPr>
            </a:pPr>
            <a:r>
              <a:rPr lang="en-GB" sz="2800" dirty="0"/>
              <a:t>Problem &amp; Dataset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FA4BBC6C-2CF1-AAD9-964E-C580F09E5182}"/>
              </a:ext>
            </a:extLst>
          </p:cNvPr>
          <p:cNvSpPr/>
          <p:nvPr/>
        </p:nvSpPr>
        <p:spPr>
          <a:xfrm>
            <a:off x="441198" y="1176482"/>
            <a:ext cx="8321802" cy="1002055"/>
          </a:xfrm>
          <a:prstGeom prst="roundRect">
            <a:avLst>
              <a:gd name="adj" fmla="val 5699"/>
            </a:avLst>
          </a:prstGeom>
          <a:solidFill>
            <a:srgbClr val="FFFFFF"/>
          </a:solidFill>
          <a:ln w="28575">
            <a:solidFill>
              <a:srgbClr val="6B46C1"/>
            </a:solidFill>
          </a:ln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srgbClr val="00B0F0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865D65-B579-06F1-6AFD-7A86B9DF30FE}"/>
              </a:ext>
            </a:extLst>
          </p:cNvPr>
          <p:cNvSpPr/>
          <p:nvPr/>
        </p:nvSpPr>
        <p:spPr>
          <a:xfrm>
            <a:off x="600075" y="1344648"/>
            <a:ext cx="40610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  <a:spcAft>
                <a:spcPts val="900"/>
              </a:spcAft>
              <a:buClrTx/>
              <a:buFontTx/>
              <a:buNone/>
            </a:pPr>
            <a:r>
              <a:rPr lang="en-US" sz="1800" b="1" kern="1200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E928DB6-C2FD-2C66-0E90-03561DACE5BB}"/>
              </a:ext>
            </a:extLst>
          </p:cNvPr>
          <p:cNvSpPr/>
          <p:nvPr/>
        </p:nvSpPr>
        <p:spPr>
          <a:xfrm>
            <a:off x="609790" y="1729944"/>
            <a:ext cx="8102727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  <a:buClrTx/>
              <a:buFontTx/>
              <a:buNone/>
            </a:pPr>
            <a:r>
              <a:rPr lang="en-US" sz="1350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current state of women's representation in STEM fields across major U.S. metropolitan areas?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2E5C2E-E890-0123-4926-6CE99B1B9088}"/>
              </a:ext>
            </a:extLst>
          </p:cNvPr>
          <p:cNvSpPr txBox="1"/>
          <p:nvPr/>
        </p:nvSpPr>
        <p:spPr>
          <a:xfrm>
            <a:off x="473202" y="2571869"/>
            <a:ext cx="2560320" cy="914400"/>
          </a:xfrm>
          <a:prstGeom prst="rect">
            <a:avLst/>
          </a:prstGeom>
          <a:solidFill>
            <a:srgbClr val="6B46C1"/>
          </a:solidFill>
        </p:spPr>
        <p:txBody>
          <a:bodyPr wrap="none">
            <a:spAutoFit/>
          </a:bodyPr>
          <a:lstStyle/>
          <a:p>
            <a:pPr algn="ctr" defTabSz="457200">
              <a:buClrTx/>
              <a:buFontTx/>
              <a:buNone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117</a:t>
            </a:r>
          </a:p>
          <a:p>
            <a:pPr algn="ctr" defTabSz="457200">
              <a:buClrTx/>
              <a:buFontTx/>
              <a:buNone/>
              <a:defRPr sz="1200">
                <a:solidFill>
                  <a:srgbClr val="FFFFFF"/>
                </a:solidFill>
              </a:defRPr>
            </a:pPr>
            <a:r>
              <a:rPr sz="1200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U.S. Cities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DCA7E3-5039-54C5-34D6-A5172795FE96}"/>
              </a:ext>
            </a:extLst>
          </p:cNvPr>
          <p:cNvSpPr txBox="1"/>
          <p:nvPr/>
        </p:nvSpPr>
        <p:spPr>
          <a:xfrm>
            <a:off x="3216402" y="2571869"/>
            <a:ext cx="2560320" cy="914400"/>
          </a:xfrm>
          <a:prstGeom prst="rect">
            <a:avLst/>
          </a:prstGeom>
          <a:solidFill>
            <a:srgbClr val="6B46C1"/>
          </a:solidFill>
        </p:spPr>
        <p:txBody>
          <a:bodyPr wrap="none">
            <a:spAutoFit/>
          </a:bodyPr>
          <a:lstStyle/>
          <a:p>
            <a:pPr algn="ctr" defTabSz="457200">
              <a:buClrTx/>
              <a:buFontTx/>
              <a:buNone/>
              <a:defRPr sz="3600" b="1">
                <a:solidFill>
                  <a:srgbClr val="FFFFFF"/>
                </a:solidFill>
              </a:defRPr>
            </a:pPr>
            <a:r>
              <a:rPr sz="3600" b="1" kern="1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16</a:t>
            </a:r>
          </a:p>
          <a:p>
            <a:pPr algn="ctr" defTabSz="457200">
              <a:buClrTx/>
              <a:buFontTx/>
              <a:buNone/>
              <a:defRPr sz="1200">
                <a:solidFill>
                  <a:srgbClr val="FFFFFF"/>
                </a:solidFill>
              </a:defRPr>
            </a:pPr>
            <a:r>
              <a:rPr sz="1200" kern="1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Variables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90C657-C667-69EC-521C-3FB7E3EAFD90}"/>
              </a:ext>
            </a:extLst>
          </p:cNvPr>
          <p:cNvSpPr txBox="1"/>
          <p:nvPr/>
        </p:nvSpPr>
        <p:spPr>
          <a:xfrm>
            <a:off x="5959602" y="2571869"/>
            <a:ext cx="2560320" cy="914400"/>
          </a:xfrm>
          <a:prstGeom prst="rect">
            <a:avLst/>
          </a:prstGeom>
          <a:solidFill>
            <a:srgbClr val="6B46C1"/>
          </a:solidFill>
        </p:spPr>
        <p:txBody>
          <a:bodyPr wrap="none">
            <a:spAutoFit/>
          </a:bodyPr>
          <a:lstStyle/>
          <a:p>
            <a:pPr algn="ctr" defTabSz="457200">
              <a:buClrTx/>
              <a:buFontTx/>
              <a:buNone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2015-2019</a:t>
            </a:r>
          </a:p>
          <a:p>
            <a:pPr algn="ctr" defTabSz="457200">
              <a:buClrTx/>
              <a:buFontTx/>
              <a:buNone/>
              <a:defRPr sz="1200">
                <a:solidFill>
                  <a:srgbClr val="FFFFFF"/>
                </a:solidFill>
              </a:defRPr>
            </a:pPr>
            <a:r>
              <a:rPr sz="1200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Timeframe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F1D7FA-8994-D4CA-11C9-0770B3D15EA9}"/>
              </a:ext>
            </a:extLst>
          </p:cNvPr>
          <p:cNvSpPr txBox="1"/>
          <p:nvPr/>
        </p:nvSpPr>
        <p:spPr>
          <a:xfrm>
            <a:off x="473202" y="3669149"/>
            <a:ext cx="564289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buClrTx/>
              <a:buFontTx/>
              <a:buNone/>
              <a:defRPr sz="1100">
                <a:solidFill>
                  <a:srgbClr val="4B5563"/>
                </a:solidFill>
              </a:defRPr>
            </a:pPr>
            <a:r>
              <a:rPr sz="1100" kern="1200" dirty="0">
                <a:solidFill>
                  <a:srgbClr val="4B5563"/>
                </a:solidFill>
                <a:latin typeface="Calibri"/>
                <a:ea typeface="+mn-ea"/>
                <a:cs typeface="+mn-cs"/>
              </a:rPr>
              <a:t>Data: Employment, income, growth trends • Method: DAX measures, interactive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29B3DAF9-E90A-C352-5314-44B3CA308B2A}"/>
              </a:ext>
            </a:extLst>
          </p:cNvPr>
          <p:cNvSpPr/>
          <p:nvPr/>
        </p:nvSpPr>
        <p:spPr>
          <a:xfrm>
            <a:off x="325582" y="1172874"/>
            <a:ext cx="8382000" cy="0"/>
          </a:xfrm>
          <a:prstGeom prst="line">
            <a:avLst/>
          </a:prstGeom>
          <a:noFill/>
          <a:ln w="28575">
            <a:solidFill>
              <a:srgbClr val="E91E63"/>
            </a:solidFill>
            <a:prstDash val="solid"/>
          </a:ln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D899FB3-4DC6-BB0B-58BD-9586DB471FA8}"/>
              </a:ext>
            </a:extLst>
          </p:cNvPr>
          <p:cNvSpPr/>
          <p:nvPr/>
        </p:nvSpPr>
        <p:spPr>
          <a:xfrm>
            <a:off x="381000" y="685294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  <a:buClrTx/>
              <a:buFontTx/>
              <a:buNone/>
            </a:pPr>
            <a:r>
              <a:rPr lang="en-US" sz="2700" b="1" kern="1200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Process</a:t>
            </a:r>
            <a:endParaRPr lang="en-US" sz="27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F4C0EA6-A50B-54D8-9AEB-834E2B89EFFC}"/>
              </a:ext>
            </a:extLst>
          </p:cNvPr>
          <p:cNvSpPr/>
          <p:nvPr/>
        </p:nvSpPr>
        <p:spPr>
          <a:xfrm>
            <a:off x="381000" y="1767036"/>
            <a:ext cx="8382000" cy="441871"/>
          </a:xfrm>
          <a:prstGeom prst="roundRect">
            <a:avLst>
              <a:gd name="adj" fmla="val 129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12EB8CA-4984-96C7-E267-FB24A7BF01E9}"/>
              </a:ext>
            </a:extLst>
          </p:cNvPr>
          <p:cNvSpPr/>
          <p:nvPr/>
        </p:nvSpPr>
        <p:spPr>
          <a:xfrm>
            <a:off x="404813" y="1767036"/>
            <a:ext cx="0" cy="441871"/>
          </a:xfrm>
          <a:prstGeom prst="line">
            <a:avLst/>
          </a:prstGeom>
          <a:noFill/>
          <a:ln w="47625">
            <a:solidFill>
              <a:srgbClr val="6B46C1"/>
            </a:solidFill>
            <a:prstDash val="solid"/>
          </a:ln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B1B1E6F-CCCE-7844-04F5-D7EF11DE2EE5}"/>
              </a:ext>
            </a:extLst>
          </p:cNvPr>
          <p:cNvSpPr/>
          <p:nvPr/>
        </p:nvSpPr>
        <p:spPr>
          <a:xfrm>
            <a:off x="581025" y="1881336"/>
            <a:ext cx="81901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buClrTx/>
              <a:buFontTx/>
              <a:buNone/>
            </a:pPr>
            <a:r>
              <a:rPr lang="en-US" sz="1200" b="1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Type Verification</a:t>
            </a:r>
            <a:r>
              <a:rPr lang="en-US" sz="1200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Numeric and text validation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2803767-4B2F-C732-D2EC-7C2808CF26CB}"/>
              </a:ext>
            </a:extLst>
          </p:cNvPr>
          <p:cNvSpPr/>
          <p:nvPr/>
        </p:nvSpPr>
        <p:spPr>
          <a:xfrm>
            <a:off x="381000" y="2285107"/>
            <a:ext cx="8382000" cy="441871"/>
          </a:xfrm>
          <a:prstGeom prst="roundRect">
            <a:avLst>
              <a:gd name="adj" fmla="val 129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7AF8744E-766A-22FD-2CBA-B0F23A02E184}"/>
              </a:ext>
            </a:extLst>
          </p:cNvPr>
          <p:cNvSpPr/>
          <p:nvPr/>
        </p:nvSpPr>
        <p:spPr>
          <a:xfrm>
            <a:off x="404813" y="2285107"/>
            <a:ext cx="0" cy="441871"/>
          </a:xfrm>
          <a:prstGeom prst="line">
            <a:avLst/>
          </a:prstGeom>
          <a:noFill/>
          <a:ln w="47625">
            <a:solidFill>
              <a:srgbClr val="6B46C1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C3854609-5369-5D8E-382C-CCD3FE39196E}"/>
              </a:ext>
            </a:extLst>
          </p:cNvPr>
          <p:cNvSpPr/>
          <p:nvPr/>
        </p:nvSpPr>
        <p:spPr>
          <a:xfrm>
            <a:off x="581025" y="2399407"/>
            <a:ext cx="81901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buClrTx/>
              <a:buFontTx/>
              <a:buNone/>
            </a:pPr>
            <a:r>
              <a:rPr lang="en-US" sz="1200" b="1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Missing Value Analysis</a:t>
            </a:r>
            <a:r>
              <a:rPr lang="en-US" sz="1200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Documented gaps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80BBCD8-31C7-77F2-1E1A-AB919DBD21DA}"/>
              </a:ext>
            </a:extLst>
          </p:cNvPr>
          <p:cNvSpPr/>
          <p:nvPr/>
        </p:nvSpPr>
        <p:spPr>
          <a:xfrm>
            <a:off x="381000" y="2803178"/>
            <a:ext cx="8382000" cy="441871"/>
          </a:xfrm>
          <a:prstGeom prst="roundRect">
            <a:avLst>
              <a:gd name="adj" fmla="val 129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E0465B0F-26E8-7910-21A1-D945E83FC876}"/>
              </a:ext>
            </a:extLst>
          </p:cNvPr>
          <p:cNvSpPr/>
          <p:nvPr/>
        </p:nvSpPr>
        <p:spPr>
          <a:xfrm>
            <a:off x="404813" y="2803178"/>
            <a:ext cx="0" cy="441871"/>
          </a:xfrm>
          <a:prstGeom prst="line">
            <a:avLst/>
          </a:prstGeom>
          <a:noFill/>
          <a:ln w="47625">
            <a:solidFill>
              <a:srgbClr val="6B46C1"/>
            </a:solidFill>
            <a:prstDash val="solid"/>
          </a:ln>
        </p:spPr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580CEC34-8091-CB61-EBA2-90F1143A340D}"/>
              </a:ext>
            </a:extLst>
          </p:cNvPr>
          <p:cNvSpPr/>
          <p:nvPr/>
        </p:nvSpPr>
        <p:spPr>
          <a:xfrm>
            <a:off x="581025" y="2917478"/>
            <a:ext cx="81901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buClrTx/>
              <a:buFontTx/>
              <a:buNone/>
            </a:pPr>
            <a:r>
              <a:rPr lang="en-US" sz="1200" b="1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Outlier Detection</a:t>
            </a:r>
            <a:r>
              <a:rPr lang="en-US" sz="1200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Validated extremes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08368528-36C8-2497-05E8-BC0EDA27F8EE}"/>
              </a:ext>
            </a:extLst>
          </p:cNvPr>
          <p:cNvSpPr/>
          <p:nvPr/>
        </p:nvSpPr>
        <p:spPr>
          <a:xfrm>
            <a:off x="381000" y="3321248"/>
            <a:ext cx="8382000" cy="441871"/>
          </a:xfrm>
          <a:prstGeom prst="roundRect">
            <a:avLst>
              <a:gd name="adj" fmla="val 129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54A29380-3721-8B5C-41C5-EE06F3ECBA52}"/>
              </a:ext>
            </a:extLst>
          </p:cNvPr>
          <p:cNvSpPr/>
          <p:nvPr/>
        </p:nvSpPr>
        <p:spPr>
          <a:xfrm>
            <a:off x="404813" y="3321248"/>
            <a:ext cx="0" cy="441871"/>
          </a:xfrm>
          <a:prstGeom prst="line">
            <a:avLst/>
          </a:prstGeom>
          <a:noFill/>
          <a:ln w="47625">
            <a:solidFill>
              <a:srgbClr val="6B46C1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9E18E0F-8E13-DB0A-0EE5-88B0AF259A1F}"/>
              </a:ext>
            </a:extLst>
          </p:cNvPr>
          <p:cNvSpPr/>
          <p:nvPr/>
        </p:nvSpPr>
        <p:spPr>
          <a:xfrm>
            <a:off x="581025" y="3435548"/>
            <a:ext cx="81901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buClrTx/>
              <a:buFontTx/>
              <a:buNone/>
            </a:pPr>
            <a:r>
              <a:rPr lang="en-US" sz="1200" b="1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Feature Engineering</a:t>
            </a:r>
            <a:r>
              <a:rPr lang="en-US" sz="1200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Created derived columns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34074932-8F53-2B61-6D11-2781E172C4DE}"/>
              </a:ext>
            </a:extLst>
          </p:cNvPr>
          <p:cNvSpPr/>
          <p:nvPr/>
        </p:nvSpPr>
        <p:spPr>
          <a:xfrm>
            <a:off x="381000" y="1412677"/>
            <a:ext cx="8382000" cy="0"/>
          </a:xfrm>
          <a:prstGeom prst="line">
            <a:avLst/>
          </a:prstGeom>
          <a:noFill/>
          <a:ln w="28575">
            <a:solidFill>
              <a:srgbClr val="E91E63"/>
            </a:solidFill>
            <a:prstDash val="solid"/>
          </a:ln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D28FD90-9A67-C4B3-FB46-76211C3E702F}"/>
              </a:ext>
            </a:extLst>
          </p:cNvPr>
          <p:cNvSpPr/>
          <p:nvPr/>
        </p:nvSpPr>
        <p:spPr>
          <a:xfrm>
            <a:off x="381000" y="864989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3200" b="1">
                <a:solidFill>
                  <a:srgbClr val="6B46C1"/>
                </a:solidFill>
              </a:defRPr>
            </a:pPr>
            <a:r>
              <a:rPr lang="en-GB" sz="2800" dirty="0"/>
              <a:t>Key Findings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1E19C5-CE4C-8E39-01D9-7FBA0157C799}"/>
              </a:ext>
            </a:extLst>
          </p:cNvPr>
          <p:cNvSpPr txBox="1"/>
          <p:nvPr/>
        </p:nvSpPr>
        <p:spPr>
          <a:xfrm>
            <a:off x="548640" y="2001982"/>
            <a:ext cx="2560320" cy="822960"/>
          </a:xfrm>
          <a:prstGeom prst="rect">
            <a:avLst/>
          </a:prstGeom>
          <a:solidFill>
            <a:srgbClr val="F9FAFB"/>
          </a:solidFill>
        </p:spPr>
        <p:txBody>
          <a:bodyPr wrap="none">
            <a:spAutoFit/>
          </a:bodyPr>
          <a:lstStyle/>
          <a:p>
            <a:pPr algn="ctr" defTabSz="457200">
              <a:buClrTx/>
              <a:buFontTx/>
              <a:buNone/>
              <a:defRPr sz="3200" b="1">
                <a:solidFill>
                  <a:srgbClr val="6B46C1"/>
                </a:solidFill>
              </a:defRPr>
            </a:pPr>
            <a:r>
              <a:rPr sz="3200" b="1" kern="1200">
                <a:solidFill>
                  <a:srgbClr val="6B46C1"/>
                </a:solidFill>
                <a:latin typeface="Calibri"/>
                <a:ea typeface="+mn-ea"/>
                <a:cs typeface="+mn-cs"/>
              </a:rPr>
              <a:t>2.5M</a:t>
            </a:r>
          </a:p>
          <a:p>
            <a:pPr algn="ctr" defTabSz="457200">
              <a:buClrTx/>
              <a:buFontTx/>
              <a:buNone/>
              <a:defRPr sz="1000"/>
            </a:pPr>
            <a:r>
              <a:rPr sz="10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Total STEM Jobs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68222B-0676-0EC7-F01E-D52D7CA347EB}"/>
              </a:ext>
            </a:extLst>
          </p:cNvPr>
          <p:cNvSpPr txBox="1"/>
          <p:nvPr/>
        </p:nvSpPr>
        <p:spPr>
          <a:xfrm>
            <a:off x="3291840" y="2001982"/>
            <a:ext cx="2560320" cy="822960"/>
          </a:xfrm>
          <a:prstGeom prst="rect">
            <a:avLst/>
          </a:prstGeom>
          <a:solidFill>
            <a:srgbClr val="F9FAFB"/>
          </a:solidFill>
        </p:spPr>
        <p:txBody>
          <a:bodyPr wrap="none">
            <a:spAutoFit/>
          </a:bodyPr>
          <a:lstStyle/>
          <a:p>
            <a:pPr algn="ctr" defTabSz="457200">
              <a:buClrTx/>
              <a:buFontTx/>
              <a:buNone/>
              <a:defRPr sz="3200" b="1">
                <a:solidFill>
                  <a:srgbClr val="6B46C1"/>
                </a:solidFill>
              </a:defRPr>
            </a:pPr>
            <a:r>
              <a:rPr sz="3200" b="1" kern="1200">
                <a:solidFill>
                  <a:srgbClr val="6B46C1"/>
                </a:solidFill>
                <a:latin typeface="Calibri"/>
                <a:ea typeface="+mn-ea"/>
                <a:cs typeface="+mn-cs"/>
              </a:rPr>
              <a:t>723K</a:t>
            </a:r>
          </a:p>
          <a:p>
            <a:pPr algn="ctr" defTabSz="457200">
              <a:buClrTx/>
              <a:buFontTx/>
              <a:buNone/>
              <a:defRPr sz="1000"/>
            </a:pPr>
            <a:r>
              <a:rPr sz="10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Women in STEM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F9F19A-8CDF-5325-F036-E062EC27F8C1}"/>
              </a:ext>
            </a:extLst>
          </p:cNvPr>
          <p:cNvSpPr txBox="1"/>
          <p:nvPr/>
        </p:nvSpPr>
        <p:spPr>
          <a:xfrm>
            <a:off x="6035040" y="2001982"/>
            <a:ext cx="2560320" cy="822960"/>
          </a:xfrm>
          <a:prstGeom prst="rect">
            <a:avLst/>
          </a:prstGeom>
          <a:solidFill>
            <a:srgbClr val="F9FAFB"/>
          </a:solidFill>
        </p:spPr>
        <p:txBody>
          <a:bodyPr wrap="none">
            <a:spAutoFit/>
          </a:bodyPr>
          <a:lstStyle/>
          <a:p>
            <a:pPr algn="ctr" defTabSz="457200">
              <a:buClrTx/>
              <a:buFontTx/>
              <a:buNone/>
              <a:defRPr sz="3200" b="1">
                <a:solidFill>
                  <a:srgbClr val="6B46C1"/>
                </a:solidFill>
              </a:defRPr>
            </a:pPr>
            <a:r>
              <a:rPr sz="3200" b="1" kern="1200">
                <a:solidFill>
                  <a:srgbClr val="6B46C1"/>
                </a:solidFill>
                <a:latin typeface="Calibri"/>
                <a:ea typeface="+mn-ea"/>
                <a:cs typeface="+mn-cs"/>
              </a:rPr>
              <a:t>27.3%</a:t>
            </a:r>
          </a:p>
          <a:p>
            <a:pPr algn="ctr" defTabSz="457200">
              <a:buClrTx/>
              <a:buFontTx/>
              <a:buNone/>
              <a:defRPr sz="1000"/>
            </a:pPr>
            <a:r>
              <a:rPr sz="10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Avg % Women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AB40DC-4DC0-14F8-25EF-8B3547FE00B1}"/>
              </a:ext>
            </a:extLst>
          </p:cNvPr>
          <p:cNvSpPr txBox="1"/>
          <p:nvPr/>
        </p:nvSpPr>
        <p:spPr>
          <a:xfrm>
            <a:off x="548640" y="3099262"/>
            <a:ext cx="4114800" cy="914400"/>
          </a:xfrm>
          <a:prstGeom prst="rect">
            <a:avLst/>
          </a:prstGeom>
          <a:solidFill>
            <a:srgbClr val="ECFDF5"/>
          </a:solidFill>
        </p:spPr>
        <p:txBody>
          <a:bodyPr wrap="none">
            <a:spAutoFit/>
          </a:bodyPr>
          <a:lstStyle/>
          <a:p>
            <a:pPr algn="ctr" defTabSz="457200">
              <a:buClrTx/>
              <a:buFontTx/>
              <a:buNone/>
              <a:defRPr sz="2800" b="1">
                <a:solidFill>
                  <a:srgbClr val="14B8A6"/>
                </a:solidFill>
              </a:defRPr>
            </a:pPr>
            <a:r>
              <a:rPr sz="2800" b="1" kern="1200">
                <a:solidFill>
                  <a:srgbClr val="14B8A6"/>
                </a:solidFill>
                <a:latin typeface="Calibri"/>
                <a:ea typeface="+mn-ea"/>
                <a:cs typeface="+mn-cs"/>
              </a:rPr>
              <a:t>10.1% - 44.1%</a:t>
            </a:r>
          </a:p>
          <a:p>
            <a:pPr algn="ctr" defTabSz="457200">
              <a:buClrTx/>
              <a:buFontTx/>
              <a:buNone/>
              <a:defRPr sz="1100" b="1">
                <a:solidFill>
                  <a:srgbClr val="047857"/>
                </a:solidFill>
              </a:defRPr>
            </a:pPr>
            <a:r>
              <a:rPr sz="1100" b="1" kern="1200">
                <a:solidFill>
                  <a:srgbClr val="047857"/>
                </a:solidFill>
                <a:latin typeface="Calibri"/>
                <a:ea typeface="+mn-ea"/>
                <a:cs typeface="+mn-cs"/>
              </a:rPr>
              <a:t>Range Across Cities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992A8D-A15A-9302-FCF5-E29F71C5A27C}"/>
              </a:ext>
            </a:extLst>
          </p:cNvPr>
          <p:cNvSpPr txBox="1"/>
          <p:nvPr/>
        </p:nvSpPr>
        <p:spPr>
          <a:xfrm>
            <a:off x="5120640" y="3099262"/>
            <a:ext cx="3657600" cy="914400"/>
          </a:xfrm>
          <a:prstGeom prst="rect">
            <a:avLst/>
          </a:prstGeom>
          <a:solidFill>
            <a:srgbClr val="FEF2F2"/>
          </a:solidFill>
        </p:spPr>
        <p:txBody>
          <a:bodyPr wrap="none">
            <a:spAutoFit/>
          </a:bodyPr>
          <a:lstStyle/>
          <a:p>
            <a:pPr algn="ctr" defTabSz="457200">
              <a:buClrTx/>
              <a:buFontTx/>
              <a:buNone/>
              <a:defRPr sz="2800" b="1">
                <a:solidFill>
                  <a:srgbClr val="DC2626"/>
                </a:solidFill>
              </a:defRPr>
            </a:pPr>
            <a:r>
              <a:rPr sz="2800" b="1" kern="1200">
                <a:solidFill>
                  <a:srgbClr val="DC2626"/>
                </a:solidFill>
                <a:latin typeface="Calibri"/>
                <a:ea typeface="+mn-ea"/>
                <a:cs typeface="+mn-cs"/>
              </a:rPr>
              <a:t>$6,298</a:t>
            </a:r>
          </a:p>
          <a:p>
            <a:pPr algn="ctr" defTabSz="457200">
              <a:buClrTx/>
              <a:buFontTx/>
              <a:buNone/>
              <a:defRPr sz="1100" b="1">
                <a:solidFill>
                  <a:srgbClr val="991B1B"/>
                </a:solidFill>
              </a:defRPr>
            </a:pPr>
            <a:r>
              <a:rPr sz="1100" b="1" kern="1200">
                <a:solidFill>
                  <a:srgbClr val="991B1B"/>
                </a:solidFill>
                <a:latin typeface="Calibri"/>
                <a:ea typeface="+mn-ea"/>
                <a:cs typeface="+mn-cs"/>
              </a:rPr>
              <a:t>Avg Gender Pay Gap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B81422-095B-47C3-B1EA-7E093B2B284C}"/>
              </a:ext>
            </a:extLst>
          </p:cNvPr>
          <p:cNvSpPr txBox="1"/>
          <p:nvPr/>
        </p:nvSpPr>
        <p:spPr>
          <a:xfrm>
            <a:off x="548640" y="428798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buClrTx/>
              <a:buFontTx/>
              <a:buNone/>
              <a:defRPr sz="1100"/>
            </a:pPr>
            <a:r>
              <a:rPr sz="11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Top Cities: New York (68.6K), LA (29.8K), Chicago (30K) • Leader: Sacramento at 44.1%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637EF830-F790-5186-63C8-48BBBDD5E3B7}"/>
              </a:ext>
            </a:extLst>
          </p:cNvPr>
          <p:cNvSpPr/>
          <p:nvPr/>
        </p:nvSpPr>
        <p:spPr>
          <a:xfrm>
            <a:off x="381000" y="1192709"/>
            <a:ext cx="8382000" cy="0"/>
          </a:xfrm>
          <a:prstGeom prst="line">
            <a:avLst/>
          </a:prstGeom>
          <a:noFill/>
          <a:ln w="28575">
            <a:solidFill>
              <a:srgbClr val="E91E63"/>
            </a:solidFill>
            <a:prstDash val="solid"/>
          </a:ln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4794742-645B-19AF-751F-14504BB2D247}"/>
              </a:ext>
            </a:extLst>
          </p:cNvPr>
          <p:cNvSpPr/>
          <p:nvPr/>
        </p:nvSpPr>
        <p:spPr>
          <a:xfrm>
            <a:off x="381000" y="683121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3200" b="1">
                <a:solidFill>
                  <a:srgbClr val="6B46C1"/>
                </a:solidFill>
              </a:defRPr>
            </a:pPr>
            <a:r>
              <a:rPr lang="en-GB" sz="2400" dirty="0"/>
              <a:t>Pay Equity &amp; Growth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D6FB08-1604-9D85-B8A3-307410D3C606}"/>
              </a:ext>
            </a:extLst>
          </p:cNvPr>
          <p:cNvSpPr txBox="1"/>
          <p:nvPr/>
        </p:nvSpPr>
        <p:spPr>
          <a:xfrm>
            <a:off x="381000" y="1900059"/>
            <a:ext cx="4114800" cy="457200"/>
          </a:xfrm>
          <a:prstGeom prst="rect">
            <a:avLst/>
          </a:prstGeom>
          <a:solidFill>
            <a:srgbClr val="FEF2F2"/>
          </a:solidFill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National Avg: $6,298 (8.8%)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6DEDE7-CC66-17D3-F1A6-1837A4CD5C6C}"/>
              </a:ext>
            </a:extLst>
          </p:cNvPr>
          <p:cNvSpPr txBox="1"/>
          <p:nvPr/>
        </p:nvSpPr>
        <p:spPr>
          <a:xfrm>
            <a:off x="381000" y="244869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Best: Washington DC $1,381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FD88F1-1A01-2A4A-36B5-BCFBFD8564A3}"/>
              </a:ext>
            </a:extLst>
          </p:cNvPr>
          <p:cNvSpPr txBox="1"/>
          <p:nvPr/>
        </p:nvSpPr>
        <p:spPr>
          <a:xfrm>
            <a:off x="381000" y="290589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Worst: Indianapolis $16,692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7254EA-AB89-DDD6-42D2-C6E5B4A8E0A7}"/>
              </a:ext>
            </a:extLst>
          </p:cNvPr>
          <p:cNvSpPr txBox="1"/>
          <p:nvPr/>
        </p:nvSpPr>
        <p:spPr>
          <a:xfrm>
            <a:off x="4953000" y="1900059"/>
            <a:ext cx="3657600" cy="457200"/>
          </a:xfrm>
          <a:prstGeom prst="rect">
            <a:avLst/>
          </a:prstGeom>
          <a:solidFill>
            <a:srgbClr val="ECFDF5"/>
          </a:solidFill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80% of cities growing (2015-2019)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9ED6A0-9A4D-A6BA-D403-18F78B7171A4}"/>
              </a:ext>
            </a:extLst>
          </p:cNvPr>
          <p:cNvSpPr txBox="1"/>
          <p:nvPr/>
        </p:nvSpPr>
        <p:spPr>
          <a:xfrm>
            <a:off x="4953000" y="244869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Top Growth: Oxnard +26.5%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ED4C81-1AC0-4646-F168-8AC5C6B5BF46}"/>
              </a:ext>
            </a:extLst>
          </p:cNvPr>
          <p:cNvSpPr txBox="1"/>
          <p:nvPr/>
        </p:nvSpPr>
        <p:spPr>
          <a:xfrm>
            <a:off x="4953000" y="290589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Avg Growth: +2.8% annually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28BECC-21C6-685D-0406-26C55D34F38C}"/>
              </a:ext>
            </a:extLst>
          </p:cNvPr>
          <p:cNvSpPr txBox="1"/>
          <p:nvPr/>
        </p:nvSpPr>
        <p:spPr>
          <a:xfrm>
            <a:off x="381000" y="3728859"/>
            <a:ext cx="8229600" cy="731520"/>
          </a:xfrm>
          <a:prstGeom prst="rect">
            <a:avLst/>
          </a:prstGeom>
          <a:solidFill>
            <a:srgbClr val="F9FAFB"/>
          </a:solidFill>
        </p:spPr>
        <p:txBody>
          <a:bodyPr wrap="square">
            <a:spAutoFit/>
          </a:bodyPr>
          <a:lstStyle/>
          <a:p>
            <a:pPr>
              <a:defRPr sz="1100"/>
            </a:pPr>
            <a:r>
              <a:t>Key Insight: Progress is happening but slow—pay gaps persist even in high-representation cities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33B5321F-F933-E610-0BDE-343A0564397D}"/>
              </a:ext>
            </a:extLst>
          </p:cNvPr>
          <p:cNvSpPr/>
          <p:nvPr/>
        </p:nvSpPr>
        <p:spPr>
          <a:xfrm>
            <a:off x="381000" y="940811"/>
            <a:ext cx="8382000" cy="0"/>
          </a:xfrm>
          <a:prstGeom prst="line">
            <a:avLst/>
          </a:prstGeom>
          <a:noFill/>
          <a:ln w="28575">
            <a:solidFill>
              <a:srgbClr val="E91E63"/>
            </a:solidFill>
            <a:prstDash val="solid"/>
          </a:ln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C381A5F7-A21D-F29C-0005-DD447206F2C8}"/>
              </a:ext>
            </a:extLst>
          </p:cNvPr>
          <p:cNvSpPr/>
          <p:nvPr/>
        </p:nvSpPr>
        <p:spPr>
          <a:xfrm>
            <a:off x="381000" y="549117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  <a:buClrTx/>
              <a:buFontTx/>
              <a:buNone/>
            </a:pPr>
            <a:r>
              <a:rPr lang="en-US" sz="2250" b="1" kern="1200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Demo</a:t>
            </a:r>
            <a:endParaRPr lang="en-US" sz="2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951DF1C-35A8-DCD4-17A7-373FD536BCBB}"/>
              </a:ext>
            </a:extLst>
          </p:cNvPr>
          <p:cNvSpPr/>
          <p:nvPr/>
        </p:nvSpPr>
        <p:spPr>
          <a:xfrm>
            <a:off x="646545" y="1100294"/>
            <a:ext cx="8116455" cy="2677377"/>
          </a:xfrm>
          <a:prstGeom prst="roundRect">
            <a:avLst>
              <a:gd name="adj" fmla="val 3085"/>
            </a:avLst>
          </a:prstGeom>
          <a:solidFill>
            <a:srgbClr val="F9FAFB"/>
          </a:solidFill>
          <a:ln w="28575">
            <a:solidFill>
              <a:srgbClr val="6B46C1"/>
            </a:solidFill>
          </a:ln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6DFE07C-CD6E-7385-3A2D-D67CF1EE0CE2}"/>
              </a:ext>
            </a:extLst>
          </p:cNvPr>
          <p:cNvSpPr/>
          <p:nvPr/>
        </p:nvSpPr>
        <p:spPr>
          <a:xfrm>
            <a:off x="2801221" y="1273931"/>
            <a:ext cx="372862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360"/>
              </a:lnSpc>
              <a:buClrTx/>
              <a:buFontTx/>
              <a:buNone/>
            </a:pPr>
            <a:r>
              <a:rPr lang="en-US" sz="2400" b="1" kern="1200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4F639EF5-DBE4-7A30-703B-952100E9D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188" y="1801254"/>
            <a:ext cx="6363854" cy="18757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B68690-A572-FC7B-67A7-B599E00C44B0}"/>
              </a:ext>
            </a:extLst>
          </p:cNvPr>
          <p:cNvSpPr txBox="1"/>
          <p:nvPr/>
        </p:nvSpPr>
        <p:spPr>
          <a:xfrm>
            <a:off x="1351188" y="4080373"/>
            <a:ext cx="888385" cy="23083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 defTabSz="457200">
              <a:buClrTx/>
              <a:buFontTx/>
              <a:buNone/>
              <a:defRPr sz="900" b="1">
                <a:solidFill>
                  <a:srgbClr val="6B46C1"/>
                </a:solidFill>
              </a:defRPr>
            </a:pPr>
            <a:r>
              <a:rPr sz="900" b="1" kern="1200" dirty="0">
                <a:solidFill>
                  <a:srgbClr val="6B46C1"/>
                </a:solidFill>
                <a:latin typeface="Calibri"/>
                <a:ea typeface="+mn-ea"/>
                <a:cs typeface="+mn-cs"/>
              </a:rPr>
              <a:t>DAX Measures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1525EA-3C91-AEAA-4684-C3699E251126}"/>
              </a:ext>
            </a:extLst>
          </p:cNvPr>
          <p:cNvSpPr txBox="1"/>
          <p:nvPr/>
        </p:nvSpPr>
        <p:spPr>
          <a:xfrm>
            <a:off x="2801221" y="4080373"/>
            <a:ext cx="164592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 defTabSz="457200">
              <a:buClrTx/>
              <a:buFontTx/>
              <a:buNone/>
              <a:defRPr sz="900" b="1">
                <a:solidFill>
                  <a:srgbClr val="6B46C1"/>
                </a:solidFill>
              </a:defRPr>
            </a:pPr>
            <a:r>
              <a:rPr sz="900" b="1" kern="1200" dirty="0">
                <a:solidFill>
                  <a:srgbClr val="6B46C1"/>
                </a:solidFill>
                <a:latin typeface="Calibri"/>
                <a:ea typeface="+mn-ea"/>
                <a:cs typeface="+mn-cs"/>
              </a:rPr>
              <a:t>Interactive Filters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4DC94E-01C2-4E77-B541-77C11772D1A1}"/>
              </a:ext>
            </a:extLst>
          </p:cNvPr>
          <p:cNvSpPr txBox="1"/>
          <p:nvPr/>
        </p:nvSpPr>
        <p:spPr>
          <a:xfrm>
            <a:off x="4630021" y="4080373"/>
            <a:ext cx="164592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 defTabSz="457200">
              <a:buClrTx/>
              <a:buFontTx/>
              <a:buNone/>
              <a:defRPr sz="900" b="1">
                <a:solidFill>
                  <a:srgbClr val="6B46C1"/>
                </a:solidFill>
              </a:defRPr>
            </a:pPr>
            <a:r>
              <a:rPr sz="900" b="1" kern="1200" dirty="0">
                <a:solidFill>
                  <a:srgbClr val="6B46C1"/>
                </a:solidFill>
                <a:latin typeface="Calibri"/>
                <a:ea typeface="+mn-ea"/>
                <a:cs typeface="+mn-cs"/>
              </a:rPr>
              <a:t>Regional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E69295-0282-A06B-D77B-802C8DD5C94F}"/>
              </a:ext>
            </a:extLst>
          </p:cNvPr>
          <p:cNvSpPr txBox="1"/>
          <p:nvPr/>
        </p:nvSpPr>
        <p:spPr>
          <a:xfrm>
            <a:off x="6458821" y="4080373"/>
            <a:ext cx="164592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 defTabSz="457200">
              <a:buClrTx/>
              <a:buFontTx/>
              <a:buNone/>
              <a:defRPr sz="900" b="1">
                <a:solidFill>
                  <a:srgbClr val="6B46C1"/>
                </a:solidFill>
              </a:defRPr>
            </a:pPr>
            <a:r>
              <a:rPr sz="900" b="1" kern="1200" dirty="0">
                <a:solidFill>
                  <a:srgbClr val="6B46C1"/>
                </a:solidFill>
                <a:latin typeface="Calibri"/>
                <a:ea typeface="+mn-ea"/>
                <a:cs typeface="+mn-cs"/>
              </a:rPr>
              <a:t>Trend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1C0CD91C-B5C2-95E0-D951-BFFBF3BFFA59}"/>
              </a:ext>
            </a:extLst>
          </p:cNvPr>
          <p:cNvSpPr/>
          <p:nvPr/>
        </p:nvSpPr>
        <p:spPr>
          <a:xfrm>
            <a:off x="371475" y="1204047"/>
            <a:ext cx="8382000" cy="0"/>
          </a:xfrm>
          <a:prstGeom prst="line">
            <a:avLst/>
          </a:prstGeom>
          <a:noFill/>
          <a:ln w="28575">
            <a:solidFill>
              <a:srgbClr val="E91E63"/>
            </a:solidFill>
            <a:prstDash val="solid"/>
          </a:ln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2AC4937-1431-18AE-A693-CB5A635E278F}"/>
              </a:ext>
            </a:extLst>
          </p:cNvPr>
          <p:cNvSpPr/>
          <p:nvPr/>
        </p:nvSpPr>
        <p:spPr>
          <a:xfrm>
            <a:off x="380999" y="784946"/>
            <a:ext cx="49853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3200" b="1">
                <a:solidFill>
                  <a:srgbClr val="6B46C1"/>
                </a:solidFill>
              </a:defRPr>
            </a:pPr>
            <a:r>
              <a:rPr lang="en-GB" sz="2400" dirty="0"/>
              <a:t>Conclusions &amp; Recommendations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1D7BA3-542B-5653-EF9B-2DA9D42E080A}"/>
              </a:ext>
            </a:extLst>
          </p:cNvPr>
          <p:cNvSpPr txBox="1"/>
          <p:nvPr/>
        </p:nvSpPr>
        <p:spPr>
          <a:xfrm>
            <a:off x="381000" y="15240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buClrTx/>
              <a:buFontTx/>
              <a:buNone/>
              <a:defRPr sz="1400" b="1">
                <a:solidFill>
                  <a:srgbClr val="6B46C1"/>
                </a:solidFill>
              </a:defRPr>
            </a:pPr>
            <a:r>
              <a:rPr b="1" kern="1200">
                <a:solidFill>
                  <a:srgbClr val="6B46C1"/>
                </a:solidFill>
                <a:latin typeface="Calibri"/>
                <a:ea typeface="+mn-ea"/>
                <a:cs typeface="+mn-cs"/>
              </a:rPr>
              <a:t>📊 Key Takeaways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42FC67-35FD-539E-1CEC-D275C22B218D}"/>
              </a:ext>
            </a:extLst>
          </p:cNvPr>
          <p:cNvSpPr txBox="1"/>
          <p:nvPr/>
        </p:nvSpPr>
        <p:spPr>
          <a:xfrm>
            <a:off x="381000" y="1889760"/>
            <a:ext cx="8229600" cy="32004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defTabSz="457200">
              <a:buClrTx/>
              <a:buFontTx/>
              <a:buNone/>
              <a:defRPr sz="1100"/>
            </a:pPr>
            <a:r>
              <a:rPr sz="11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1. Progress is slow: 80% growth but &lt;30% representation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D8294D-EE22-B296-AD68-526F94FB4B97}"/>
              </a:ext>
            </a:extLst>
          </p:cNvPr>
          <p:cNvSpPr txBox="1"/>
          <p:nvPr/>
        </p:nvSpPr>
        <p:spPr>
          <a:xfrm>
            <a:off x="381000" y="2255519"/>
            <a:ext cx="8229600" cy="32004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defTabSz="457200">
              <a:buClrTx/>
              <a:buFontTx/>
              <a:buNone/>
              <a:defRPr sz="1100"/>
            </a:pPr>
            <a:r>
              <a:rPr sz="11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2. Pay equity remains critical: $6,298 average gap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3980B6-7099-305F-2377-7EF9609C0CF3}"/>
              </a:ext>
            </a:extLst>
          </p:cNvPr>
          <p:cNvSpPr txBox="1"/>
          <p:nvPr/>
        </p:nvSpPr>
        <p:spPr>
          <a:xfrm>
            <a:off x="381000" y="2621280"/>
            <a:ext cx="8229600" cy="32004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defTabSz="457200">
              <a:buClrTx/>
              <a:buFontTx/>
              <a:buNone/>
              <a:defRPr sz="1100"/>
            </a:pPr>
            <a:r>
              <a:rPr sz="11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3. Success stories exist: Sacramento 44.1%, Oakland 37.3%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434132-6E6A-EB51-5A70-DF0370DA1263}"/>
              </a:ext>
            </a:extLst>
          </p:cNvPr>
          <p:cNvSpPr txBox="1"/>
          <p:nvPr/>
        </p:nvSpPr>
        <p:spPr>
          <a:xfrm>
            <a:off x="381000" y="3169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buClrTx/>
              <a:buFontTx/>
              <a:buNone/>
              <a:defRPr sz="1400" b="1">
                <a:solidFill>
                  <a:srgbClr val="E91E63"/>
                </a:solidFill>
              </a:defRPr>
            </a:pPr>
            <a:r>
              <a:rPr b="1" kern="1200">
                <a:solidFill>
                  <a:srgbClr val="E91E63"/>
                </a:solidFill>
                <a:latin typeface="Calibri"/>
                <a:ea typeface="+mn-ea"/>
                <a:cs typeface="+mn-cs"/>
              </a:rPr>
              <a:t>💡 Action Items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8BFD54-04F1-0D1D-DCA8-0CAB7C80E006}"/>
              </a:ext>
            </a:extLst>
          </p:cNvPr>
          <p:cNvSpPr txBox="1"/>
          <p:nvPr/>
        </p:nvSpPr>
        <p:spPr>
          <a:xfrm>
            <a:off x="381000" y="3535680"/>
            <a:ext cx="1920240" cy="548640"/>
          </a:xfrm>
          <a:prstGeom prst="rect">
            <a:avLst/>
          </a:prstGeom>
          <a:solidFill>
            <a:srgbClr val="F9FAFB"/>
          </a:solidFill>
        </p:spPr>
        <p:txBody>
          <a:bodyPr wrap="none">
            <a:spAutoFit/>
          </a:bodyPr>
          <a:lstStyle/>
          <a:p>
            <a:pPr defTabSz="457200">
              <a:buClrTx/>
              <a:buFontTx/>
              <a:buNone/>
              <a:defRPr sz="1000" b="1">
                <a:solidFill>
                  <a:srgbClr val="6B46C1"/>
                </a:solidFill>
              </a:defRPr>
            </a:pPr>
            <a:r>
              <a:rPr sz="1000" b="1" kern="1200">
                <a:solidFill>
                  <a:srgbClr val="6B46C1"/>
                </a:solidFill>
                <a:latin typeface="Calibri"/>
                <a:ea typeface="+mn-ea"/>
                <a:cs typeface="+mn-cs"/>
              </a:rPr>
              <a:t>Policy</a:t>
            </a:r>
          </a:p>
          <a:p>
            <a:pPr defTabSz="457200">
              <a:buClrTx/>
              <a:buFontTx/>
              <a:buNone/>
              <a:defRPr sz="900"/>
            </a:pPr>
            <a:r>
              <a:rPr sz="9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Pay transparency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43D51C-C28E-9B3F-2CE3-C27AA6D8CF84}"/>
              </a:ext>
            </a:extLst>
          </p:cNvPr>
          <p:cNvSpPr txBox="1"/>
          <p:nvPr/>
        </p:nvSpPr>
        <p:spPr>
          <a:xfrm>
            <a:off x="2484120" y="3535680"/>
            <a:ext cx="1920240" cy="548640"/>
          </a:xfrm>
          <a:prstGeom prst="rect">
            <a:avLst/>
          </a:prstGeom>
          <a:solidFill>
            <a:srgbClr val="F9FAFB"/>
          </a:solidFill>
        </p:spPr>
        <p:txBody>
          <a:bodyPr wrap="none">
            <a:spAutoFit/>
          </a:bodyPr>
          <a:lstStyle/>
          <a:p>
            <a:pPr defTabSz="457200">
              <a:buClrTx/>
              <a:buFontTx/>
              <a:buNone/>
              <a:defRPr sz="1000" b="1">
                <a:solidFill>
                  <a:srgbClr val="6B46C1"/>
                </a:solidFill>
              </a:defRPr>
            </a:pPr>
            <a:r>
              <a:rPr sz="1000" b="1" kern="1200">
                <a:solidFill>
                  <a:srgbClr val="6B46C1"/>
                </a:solidFill>
                <a:latin typeface="Calibri"/>
                <a:ea typeface="+mn-ea"/>
                <a:cs typeface="+mn-cs"/>
              </a:rPr>
              <a:t>Companies</a:t>
            </a:r>
          </a:p>
          <a:p>
            <a:pPr defTabSz="457200">
              <a:buClrTx/>
              <a:buFontTx/>
              <a:buNone/>
              <a:defRPr sz="900"/>
            </a:pPr>
            <a:r>
              <a:rPr sz="9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Equity audits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2A3DC3-2DF9-C093-AAEB-FC1465DF98CA}"/>
              </a:ext>
            </a:extLst>
          </p:cNvPr>
          <p:cNvSpPr txBox="1"/>
          <p:nvPr/>
        </p:nvSpPr>
        <p:spPr>
          <a:xfrm>
            <a:off x="4587240" y="3535680"/>
            <a:ext cx="1920240" cy="548640"/>
          </a:xfrm>
          <a:prstGeom prst="rect">
            <a:avLst/>
          </a:prstGeom>
          <a:solidFill>
            <a:srgbClr val="F9FAFB"/>
          </a:solidFill>
        </p:spPr>
        <p:txBody>
          <a:bodyPr wrap="none">
            <a:spAutoFit/>
          </a:bodyPr>
          <a:lstStyle/>
          <a:p>
            <a:pPr defTabSz="457200">
              <a:buClrTx/>
              <a:buFontTx/>
              <a:buNone/>
              <a:defRPr sz="1000" b="1">
                <a:solidFill>
                  <a:srgbClr val="6B46C1"/>
                </a:solidFill>
              </a:defRPr>
            </a:pPr>
            <a:r>
              <a:rPr sz="1000" b="1" kern="1200">
                <a:solidFill>
                  <a:srgbClr val="6B46C1"/>
                </a:solidFill>
                <a:latin typeface="Calibri"/>
                <a:ea typeface="+mn-ea"/>
                <a:cs typeface="+mn-cs"/>
              </a:rPr>
              <a:t>Education</a:t>
            </a:r>
          </a:p>
          <a:p>
            <a:pPr defTabSz="457200">
              <a:buClrTx/>
              <a:buFontTx/>
              <a:buNone/>
              <a:defRPr sz="900"/>
            </a:pPr>
            <a:r>
              <a:rPr sz="9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STEM exposure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F75B0F-7001-0A2A-7271-630A22DBA393}"/>
              </a:ext>
            </a:extLst>
          </p:cNvPr>
          <p:cNvSpPr txBox="1"/>
          <p:nvPr/>
        </p:nvSpPr>
        <p:spPr>
          <a:xfrm>
            <a:off x="6690359" y="3535680"/>
            <a:ext cx="1920240" cy="548640"/>
          </a:xfrm>
          <a:prstGeom prst="rect">
            <a:avLst/>
          </a:prstGeom>
          <a:solidFill>
            <a:srgbClr val="F9FAFB"/>
          </a:solidFill>
        </p:spPr>
        <p:txBody>
          <a:bodyPr wrap="none">
            <a:spAutoFit/>
          </a:bodyPr>
          <a:lstStyle/>
          <a:p>
            <a:pPr defTabSz="457200">
              <a:buClrTx/>
              <a:buFontTx/>
              <a:buNone/>
              <a:defRPr sz="1000" b="1">
                <a:solidFill>
                  <a:srgbClr val="6B46C1"/>
                </a:solidFill>
              </a:defRPr>
            </a:pPr>
            <a:r>
              <a:rPr sz="1000" b="1" kern="1200">
                <a:solidFill>
                  <a:srgbClr val="6B46C1"/>
                </a:solidFill>
                <a:latin typeface="Calibri"/>
                <a:ea typeface="+mn-ea"/>
                <a:cs typeface="+mn-cs"/>
              </a:rPr>
              <a:t>Individuals</a:t>
            </a:r>
          </a:p>
          <a:p>
            <a:pPr defTabSz="457200">
              <a:buClrTx/>
              <a:buFontTx/>
              <a:buNone/>
              <a:defRPr sz="900"/>
            </a:pPr>
            <a:r>
              <a:rPr sz="9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Join networks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61DE0A13-D46F-519F-4DBE-A0D676315676}"/>
              </a:ext>
            </a:extLst>
          </p:cNvPr>
          <p:cNvSpPr/>
          <p:nvPr/>
        </p:nvSpPr>
        <p:spPr>
          <a:xfrm>
            <a:off x="381000" y="1945035"/>
            <a:ext cx="8382000" cy="0"/>
          </a:xfrm>
          <a:prstGeom prst="line">
            <a:avLst/>
          </a:prstGeom>
          <a:noFill/>
          <a:ln w="28575">
            <a:solidFill>
              <a:srgbClr val="E91E63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08F596A-46AA-868E-35E6-AEE8FCC7B168}"/>
              </a:ext>
            </a:extLst>
          </p:cNvPr>
          <p:cNvSpPr/>
          <p:nvPr/>
        </p:nvSpPr>
        <p:spPr>
          <a:xfrm>
            <a:off x="381000" y="1435447"/>
            <a:ext cx="50909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3200" b="1">
                <a:solidFill>
                  <a:srgbClr val="6B46C1"/>
                </a:solidFill>
              </a:defRPr>
            </a:pPr>
            <a:r>
              <a:rPr lang="en-GB" sz="2400" dirty="0"/>
              <a:t>Ethics &amp; Limitations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3DAFFA7-ED0D-786C-D85F-6166EF348290}"/>
              </a:ext>
            </a:extLst>
          </p:cNvPr>
          <p:cNvSpPr/>
          <p:nvPr/>
        </p:nvSpPr>
        <p:spPr>
          <a:xfrm>
            <a:off x="4572000" y="2474714"/>
            <a:ext cx="41970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EF4444"/>
                </a:solidFill>
              </a:defRPr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⚠️ Study Limitations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rgbClr val="EF44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823A869-6E06-72C1-6C54-F96577F1C5F4}"/>
              </a:ext>
            </a:extLst>
          </p:cNvPr>
          <p:cNvSpPr/>
          <p:nvPr/>
        </p:nvSpPr>
        <p:spPr>
          <a:xfrm>
            <a:off x="4572000" y="2809875"/>
            <a:ext cx="4114800" cy="312390"/>
          </a:xfrm>
          <a:prstGeom prst="roundRect">
            <a:avLst>
              <a:gd name="adj" fmla="val 12196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D56EA558-DB89-AEC8-D03C-EB60173E3EA0}"/>
              </a:ext>
            </a:extLst>
          </p:cNvPr>
          <p:cNvSpPr/>
          <p:nvPr/>
        </p:nvSpPr>
        <p:spPr>
          <a:xfrm>
            <a:off x="4586288" y="2809875"/>
            <a:ext cx="0" cy="312390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F3D187F-D983-A756-EA13-6CD46AD4C5C6}"/>
              </a:ext>
            </a:extLst>
          </p:cNvPr>
          <p:cNvSpPr/>
          <p:nvPr/>
        </p:nvSpPr>
        <p:spPr>
          <a:xfrm>
            <a:off x="4695825" y="2886075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buClrTx/>
              <a:buFontTx/>
              <a:buNone/>
            </a:pPr>
            <a:r>
              <a:rPr lang="en-US" sz="900" b="1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Temporal:</a:t>
            </a:r>
            <a:r>
              <a:rPr lang="en-US" sz="900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Pre-pandemic data only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FC280EF-C751-1DDD-16F6-62F3D44A6BA9}"/>
              </a:ext>
            </a:extLst>
          </p:cNvPr>
          <p:cNvSpPr/>
          <p:nvPr/>
        </p:nvSpPr>
        <p:spPr>
          <a:xfrm>
            <a:off x="4572000" y="3198465"/>
            <a:ext cx="4114800" cy="312390"/>
          </a:xfrm>
          <a:prstGeom prst="roundRect">
            <a:avLst>
              <a:gd name="adj" fmla="val 12196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D78C5393-E853-BF4E-803B-5DB4E446A713}"/>
              </a:ext>
            </a:extLst>
          </p:cNvPr>
          <p:cNvSpPr/>
          <p:nvPr/>
        </p:nvSpPr>
        <p:spPr>
          <a:xfrm>
            <a:off x="4586288" y="3198465"/>
            <a:ext cx="0" cy="312390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AD16A2C-AB1A-7C1B-634A-FFA21FAD4B51}"/>
              </a:ext>
            </a:extLst>
          </p:cNvPr>
          <p:cNvSpPr/>
          <p:nvPr/>
        </p:nvSpPr>
        <p:spPr>
          <a:xfrm>
            <a:off x="4695825" y="3274665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buClrTx/>
              <a:buFontTx/>
              <a:buNone/>
            </a:pPr>
            <a:r>
              <a:rPr lang="en-US" sz="900" b="1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gender:</a:t>
            </a:r>
            <a:r>
              <a:rPr lang="en-US" sz="900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non-binary data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BB88727-C79C-4A08-A08F-B61A090C38D1}"/>
              </a:ext>
            </a:extLst>
          </p:cNvPr>
          <p:cNvSpPr/>
          <p:nvPr/>
        </p:nvSpPr>
        <p:spPr>
          <a:xfrm>
            <a:off x="4572000" y="3587056"/>
            <a:ext cx="4114800" cy="312390"/>
          </a:xfrm>
          <a:prstGeom prst="roundRect">
            <a:avLst>
              <a:gd name="adj" fmla="val 12196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0077D536-ADD5-76A9-7975-F9B9BBCD2233}"/>
              </a:ext>
            </a:extLst>
          </p:cNvPr>
          <p:cNvSpPr/>
          <p:nvPr/>
        </p:nvSpPr>
        <p:spPr>
          <a:xfrm>
            <a:off x="4586288" y="3587056"/>
            <a:ext cx="0" cy="312390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719F74A-A5CF-B6C3-44FA-ABA6E3766403}"/>
              </a:ext>
            </a:extLst>
          </p:cNvPr>
          <p:cNvSpPr/>
          <p:nvPr/>
        </p:nvSpPr>
        <p:spPr>
          <a:xfrm>
            <a:off x="4695825" y="3663256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buClrTx/>
              <a:buFontTx/>
              <a:buNone/>
            </a:pPr>
            <a:r>
              <a:rPr lang="en-US" sz="900" b="1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Intersectionality:</a:t>
            </a:r>
            <a:r>
              <a:rPr lang="en-US" sz="900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race/ethnicity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18DE16E5-6A81-62D5-7E7C-8C363AF659F8}"/>
              </a:ext>
            </a:extLst>
          </p:cNvPr>
          <p:cNvSpPr/>
          <p:nvPr/>
        </p:nvSpPr>
        <p:spPr>
          <a:xfrm>
            <a:off x="4625245" y="3975646"/>
            <a:ext cx="4061555" cy="312390"/>
          </a:xfrm>
          <a:prstGeom prst="roundRect">
            <a:avLst>
              <a:gd name="adj" fmla="val 12196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9738F279-6DB7-65CA-734D-372DA35A083C}"/>
              </a:ext>
            </a:extLst>
          </p:cNvPr>
          <p:cNvSpPr/>
          <p:nvPr/>
        </p:nvSpPr>
        <p:spPr>
          <a:xfrm>
            <a:off x="4586288" y="3975646"/>
            <a:ext cx="0" cy="312390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4108DE0E-7E8E-93FA-EFB1-9D03C2C83C9D}"/>
              </a:ext>
            </a:extLst>
          </p:cNvPr>
          <p:cNvSpPr/>
          <p:nvPr/>
        </p:nvSpPr>
        <p:spPr>
          <a:xfrm>
            <a:off x="4695825" y="4051846"/>
            <a:ext cx="39222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900"/>
            </a:pPr>
            <a:r>
              <a:rPr lang="en-GB" b="1" dirty="0"/>
              <a:t>Causation</a:t>
            </a:r>
            <a:r>
              <a:rPr lang="en-GB" dirty="0"/>
              <a:t>: Correlation only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18E2B6-B1FA-F970-2A1F-2E84DC4C73D6}"/>
              </a:ext>
            </a:extLst>
          </p:cNvPr>
          <p:cNvSpPr txBox="1"/>
          <p:nvPr/>
        </p:nvSpPr>
        <p:spPr>
          <a:xfrm>
            <a:off x="347664" y="2444115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buClrTx/>
              <a:buFontTx/>
              <a:buNone/>
              <a:defRPr sz="1400" b="1">
                <a:solidFill>
                  <a:srgbClr val="6B46C1"/>
                </a:solidFill>
              </a:defRPr>
            </a:pPr>
            <a:r>
              <a:rPr b="1" kern="1200">
                <a:solidFill>
                  <a:srgbClr val="6B46C1"/>
                </a:solidFill>
                <a:latin typeface="Calibri"/>
                <a:ea typeface="+mn-ea"/>
                <a:cs typeface="+mn-cs"/>
              </a:rPr>
              <a:t>✓ Ethical Practices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A0C3C6-3F5E-44C6-F1AD-93E460BE8725}"/>
              </a:ext>
            </a:extLst>
          </p:cNvPr>
          <p:cNvSpPr txBox="1"/>
          <p:nvPr/>
        </p:nvSpPr>
        <p:spPr>
          <a:xfrm>
            <a:off x="347664" y="2901315"/>
            <a:ext cx="4114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defTabSz="457200">
              <a:buClrTx/>
              <a:buFontTx/>
              <a:buNone/>
              <a:defRPr sz="1000"/>
            </a:pPr>
            <a:r>
              <a:rPr sz="10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Aggregated data only (privacy protected)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9E6585-8B32-E0C4-4F31-588D9CA34326}"/>
              </a:ext>
            </a:extLst>
          </p:cNvPr>
          <p:cNvSpPr txBox="1"/>
          <p:nvPr/>
        </p:nvSpPr>
        <p:spPr>
          <a:xfrm>
            <a:off x="347664" y="3358515"/>
            <a:ext cx="4114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defTabSz="457200">
              <a:buClrTx/>
              <a:buFontTx/>
              <a:buNone/>
              <a:defRPr sz="1000"/>
            </a:pPr>
            <a:r>
              <a:rPr sz="10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Transparent methodology documented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5838EE-9AF9-1A0A-EB64-54950BCF77FE}"/>
              </a:ext>
            </a:extLst>
          </p:cNvPr>
          <p:cNvSpPr txBox="1"/>
          <p:nvPr/>
        </p:nvSpPr>
        <p:spPr>
          <a:xfrm>
            <a:off x="347664" y="3815715"/>
            <a:ext cx="4114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defTabSz="457200">
              <a:buClrTx/>
              <a:buFontTx/>
              <a:buNone/>
              <a:defRPr sz="1000"/>
            </a:pPr>
            <a:r>
              <a:rPr sz="10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Focus on systemic patterns</a:t>
            </a:r>
          </a:p>
        </p:txBody>
      </p:sp>
    </p:spTree>
    <p:extLst>
      <p:ext uri="{BB962C8B-B14F-4D97-AF65-F5344CB8AC3E}">
        <p14:creationId xmlns:p14="http://schemas.microsoft.com/office/powerpoint/2010/main" val="2527860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232" name="Google Shape;23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851" y="3621924"/>
            <a:ext cx="1352525" cy="14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E6C34E2-E892-712F-9D14-397C807D417C}"/>
              </a:ext>
            </a:extLst>
          </p:cNvPr>
          <p:cNvSpPr/>
          <p:nvPr/>
        </p:nvSpPr>
        <p:spPr>
          <a:xfrm>
            <a:off x="2467063" y="924534"/>
            <a:ext cx="4694783" cy="3626941"/>
          </a:xfrm>
          <a:prstGeom prst="roundRect">
            <a:avLst>
              <a:gd name="adj" fmla="val 3151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8BD879-7230-4685-BE2D-F59174234064}"/>
              </a:ext>
            </a:extLst>
          </p:cNvPr>
          <p:cNvSpPr/>
          <p:nvPr/>
        </p:nvSpPr>
        <p:spPr>
          <a:xfrm>
            <a:off x="3007729" y="1589958"/>
            <a:ext cx="31283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500"/>
              </a:lnSpc>
              <a:spcAft>
                <a:spcPts val="1500"/>
              </a:spcAft>
              <a:buClrTx/>
              <a:buFontTx/>
              <a:buNone/>
            </a:pPr>
            <a:r>
              <a:rPr lang="en-US" sz="4500" b="1" kern="1200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B4A181-137F-EFB9-74EB-01FA697068C0}"/>
              </a:ext>
            </a:extLst>
          </p:cNvPr>
          <p:cNvSpPr/>
          <p:nvPr/>
        </p:nvSpPr>
        <p:spPr>
          <a:xfrm>
            <a:off x="2923232" y="2467584"/>
            <a:ext cx="3361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00"/>
              </a:lnSpc>
              <a:spcAft>
                <a:spcPts val="2250"/>
              </a:spcAft>
              <a:buClrTx/>
              <a:buFontTx/>
              <a:buNone/>
            </a:pPr>
            <a:r>
              <a:rPr lang="en-US" sz="2250" b="1" kern="1200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282CAF-5E5D-63FB-F816-C8CACE59A951}"/>
              </a:ext>
            </a:extLst>
          </p:cNvPr>
          <p:cNvSpPr/>
          <p:nvPr/>
        </p:nvSpPr>
        <p:spPr>
          <a:xfrm>
            <a:off x="2796034" y="3116610"/>
            <a:ext cx="4365812" cy="415230"/>
          </a:xfrm>
          <a:prstGeom prst="roundRect">
            <a:avLst>
              <a:gd name="adj" fmla="val 9176"/>
            </a:avLst>
          </a:prstGeom>
          <a:solidFill>
            <a:srgbClr val="F9FAFB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>
              <a:buClrTx/>
              <a:buFontTx/>
              <a:buNone/>
            </a:pPr>
            <a:endParaRPr lang="en-US" sz="18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53FD394-054E-4FA9-7146-8E02BCD2F2DA}"/>
              </a:ext>
            </a:extLst>
          </p:cNvPr>
          <p:cNvSpPr/>
          <p:nvPr/>
        </p:nvSpPr>
        <p:spPr>
          <a:xfrm>
            <a:off x="2967484" y="3230909"/>
            <a:ext cx="4004816" cy="23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  <a:buClrTx/>
              <a:buFontTx/>
              <a:buNone/>
            </a:pPr>
            <a:r>
              <a:rPr lang="en-US" sz="1050" b="1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</a:t>
            </a:r>
            <a:r>
              <a:rPr lang="en-US" sz="1050" kern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https://github.com/Refinedlv/Women-in-Stem-Redi/upload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E0397334-DCCA-A1D4-EA19-5E6A9321DA49}"/>
              </a:ext>
            </a:extLst>
          </p:cNvPr>
          <p:cNvSpPr txBox="1"/>
          <p:nvPr/>
        </p:nvSpPr>
        <p:spPr>
          <a:xfrm>
            <a:off x="822038" y="361611"/>
            <a:ext cx="7435273" cy="579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buClrTx/>
              <a:buFontTx/>
              <a:buNone/>
              <a:defRPr sz="3200" b="1">
                <a:solidFill>
                  <a:srgbClr val="6B46C1"/>
                </a:solidFill>
              </a:defRPr>
            </a:pPr>
            <a:r>
              <a:rPr sz="3200" b="1" kern="1200" dirty="0">
                <a:solidFill>
                  <a:srgbClr val="6B46C1"/>
                </a:solidFill>
                <a:latin typeface="Calibri"/>
                <a:ea typeface="+mn-ea"/>
                <a:cs typeface="+mn-cs"/>
              </a:rPr>
              <a:t>References &amp; Resources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F4D729-AB58-E079-6AF9-7AC2911D79C6}"/>
              </a:ext>
            </a:extLst>
          </p:cNvPr>
          <p:cNvSpPr txBox="1"/>
          <p:nvPr/>
        </p:nvSpPr>
        <p:spPr>
          <a:xfrm>
            <a:off x="831272" y="832062"/>
            <a:ext cx="7435273" cy="30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buClrTx/>
              <a:buFontTx/>
              <a:buNone/>
              <a:defRPr sz="1400">
                <a:solidFill>
                  <a:srgbClr val="6B7280"/>
                </a:solidFill>
              </a:defRPr>
            </a:pPr>
            <a:r>
              <a:rPr kern="1200" dirty="0">
                <a:solidFill>
                  <a:srgbClr val="6B7280"/>
                </a:solidFill>
                <a:latin typeface="Calibri"/>
                <a:ea typeface="+mn-ea"/>
                <a:cs typeface="+mn-cs"/>
              </a:rPr>
              <a:t>Data Sources, Tools &amp; Guidance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D81BAD-D09F-3431-6A2F-AA21D0F09336}"/>
              </a:ext>
            </a:extLst>
          </p:cNvPr>
          <p:cNvSpPr txBox="1"/>
          <p:nvPr/>
        </p:nvSpPr>
        <p:spPr>
          <a:xfrm>
            <a:off x="323276" y="1207198"/>
            <a:ext cx="8053447" cy="30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buClrTx/>
              <a:buFontTx/>
              <a:buNone/>
              <a:defRPr sz="1400" b="1">
                <a:solidFill>
                  <a:srgbClr val="E91E63"/>
                </a:solidFill>
              </a:defRPr>
            </a:pPr>
            <a:r>
              <a:rPr b="1" kern="1200" dirty="0">
                <a:solidFill>
                  <a:srgbClr val="E91E63"/>
                </a:solidFill>
                <a:latin typeface="Calibri"/>
                <a:ea typeface="+mn-ea"/>
                <a:cs typeface="+mn-cs"/>
              </a:rPr>
              <a:t>📊 Data Source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F3B075-3239-7E87-9EC7-7B51B495E416}"/>
              </a:ext>
            </a:extLst>
          </p:cNvPr>
          <p:cNvSpPr txBox="1"/>
          <p:nvPr/>
        </p:nvSpPr>
        <p:spPr>
          <a:xfrm>
            <a:off x="323276" y="1552288"/>
            <a:ext cx="8053447" cy="430887"/>
          </a:xfrm>
          <a:prstGeom prst="rect">
            <a:avLst/>
          </a:prstGeom>
          <a:solidFill>
            <a:srgbClr val="F9FAFB"/>
          </a:solidFill>
        </p:spPr>
        <p:txBody>
          <a:bodyPr wrap="square">
            <a:spAutoFit/>
          </a:bodyPr>
          <a:lstStyle/>
          <a:p>
            <a:pPr fontAlgn="base"/>
            <a:r>
              <a:rPr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• Kaggle - </a:t>
            </a:r>
            <a:r>
              <a:rPr lang="en-GB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STEM Occupation, with Stats of Women, by US Cities</a:t>
            </a:r>
          </a:p>
          <a:p>
            <a:pPr defTabSz="457200">
              <a:buClrTx/>
              <a:buFontTx/>
              <a:buNone/>
            </a:pPr>
            <a:r>
              <a:rPr lang="en-GB"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  <a:hlinkClick r:id="rId3"/>
              </a:rPr>
              <a:t>https://www.kaggle.com/datasets/mysterymeatie/stem-occupation-with-stats-of-women-by-us-cities</a:t>
            </a:r>
            <a:r>
              <a:rPr lang="en-GB"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</a:t>
            </a:r>
            <a:endParaRPr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DEA348-42C1-AE5C-D310-7DEFE2811E46}"/>
              </a:ext>
            </a:extLst>
          </p:cNvPr>
          <p:cNvSpPr txBox="1"/>
          <p:nvPr/>
        </p:nvSpPr>
        <p:spPr>
          <a:xfrm>
            <a:off x="323276" y="2131850"/>
            <a:ext cx="8053447" cy="30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buClrTx/>
              <a:buFontTx/>
              <a:buNone/>
              <a:defRPr sz="1400" b="1">
                <a:solidFill>
                  <a:srgbClr val="E91E63"/>
                </a:solidFill>
              </a:defRPr>
            </a:pPr>
            <a:r>
              <a:rPr b="1" kern="1200" dirty="0">
                <a:solidFill>
                  <a:srgbClr val="E91E63"/>
                </a:solidFill>
                <a:latin typeface="Calibri"/>
                <a:ea typeface="+mn-ea"/>
                <a:cs typeface="+mn-cs"/>
              </a:rPr>
              <a:t>🛠️ Tools &amp; Platforms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198D85-A4A0-5578-9250-1B63D7336C90}"/>
              </a:ext>
            </a:extLst>
          </p:cNvPr>
          <p:cNvSpPr txBox="1"/>
          <p:nvPr/>
        </p:nvSpPr>
        <p:spPr>
          <a:xfrm>
            <a:off x="323277" y="2436890"/>
            <a:ext cx="8136574" cy="1174873"/>
          </a:xfrm>
          <a:prstGeom prst="rect">
            <a:avLst/>
          </a:prstGeom>
          <a:solidFill>
            <a:srgbClr val="F9FAFB"/>
          </a:solidFill>
        </p:spPr>
        <p:txBody>
          <a:bodyPr wrap="square">
            <a:spAutoFit/>
          </a:bodyPr>
          <a:lstStyle/>
          <a:p>
            <a:pPr defTabSz="457200">
              <a:lnSpc>
                <a:spcPct val="130000"/>
              </a:lnSpc>
              <a:buClrTx/>
              <a:buFontTx/>
              <a:buNone/>
              <a:defRPr sz="1100"/>
            </a:pPr>
            <a:r>
              <a:rPr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• Microsoft Power BI - Data visualization and dashboard creation</a:t>
            </a:r>
          </a:p>
          <a:p>
            <a:pPr defTabSz="457200">
              <a:lnSpc>
                <a:spcPct val="130000"/>
              </a:lnSpc>
              <a:buClrTx/>
              <a:buFontTx/>
              <a:buNone/>
              <a:defRPr sz="1100"/>
            </a:pPr>
            <a:r>
              <a:rPr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• Google Colab - Data exploration and analysis</a:t>
            </a:r>
            <a:br>
              <a:rPr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</a:br>
            <a:r>
              <a:rPr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</a:t>
            </a:r>
            <a:r>
              <a:rPr lang="en-GB"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   </a:t>
            </a:r>
            <a:r>
              <a:rPr lang="en-GB" sz="1000" kern="1200" dirty="0">
                <a:solidFill>
                  <a:prstClr val="black"/>
                </a:solidFill>
                <a:latin typeface="Calibri"/>
                <a:ea typeface="+mn-ea"/>
                <a:cs typeface="+mn-cs"/>
                <a:hlinkClick r:id="rId4"/>
              </a:rPr>
              <a:t>https://colab.research.google.com/github/adelnehme/cleaning-data-in-python-live training/blob/master/Cleaning_Data_in_Python_live_session.ipynb</a:t>
            </a:r>
            <a:endParaRPr lang="en-GB" sz="10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defTabSz="457200">
              <a:lnSpc>
                <a:spcPct val="130000"/>
              </a:lnSpc>
              <a:buClrTx/>
              <a:buFontTx/>
              <a:buNone/>
              <a:defRPr sz="1100"/>
            </a:pPr>
            <a:r>
              <a:rPr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• Microsoft Learn - Power BI training and DAX reference</a:t>
            </a:r>
            <a:br>
              <a:rPr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</a:br>
            <a:r>
              <a:rPr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 </a:t>
            </a:r>
            <a:r>
              <a:rPr lang="en-GB"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  </a:t>
            </a:r>
            <a:r>
              <a:rPr lang="en-GB"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  <a:hlinkClick r:id="rId5"/>
              </a:rPr>
              <a:t>https://learn.microsoft.com/en-us/power-apps/user/visualize-in-power-bi</a:t>
            </a:r>
            <a:r>
              <a:rPr lang="en-GB"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</a:t>
            </a:r>
            <a:endParaRPr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173346-C831-64F3-FE98-1D8EB4C0EBA0}"/>
              </a:ext>
            </a:extLst>
          </p:cNvPr>
          <p:cNvSpPr txBox="1"/>
          <p:nvPr/>
        </p:nvSpPr>
        <p:spPr>
          <a:xfrm>
            <a:off x="406403" y="3654380"/>
            <a:ext cx="8053447" cy="30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buClrTx/>
              <a:buFontTx/>
              <a:buNone/>
              <a:defRPr sz="1400" b="1">
                <a:solidFill>
                  <a:srgbClr val="E91E63"/>
                </a:solidFill>
              </a:defRPr>
            </a:pPr>
            <a:r>
              <a:rPr b="1" kern="1200" dirty="0">
                <a:solidFill>
                  <a:srgbClr val="E91E63"/>
                </a:solidFill>
                <a:latin typeface="Calibri"/>
                <a:ea typeface="+mn-ea"/>
                <a:cs typeface="+mn-cs"/>
              </a:rPr>
              <a:t>🤖 AI Assistance &amp; Guidance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D8E773-5A3C-31F2-6C80-6E01FC3CA8A4}"/>
              </a:ext>
            </a:extLst>
          </p:cNvPr>
          <p:cNvSpPr txBox="1"/>
          <p:nvPr/>
        </p:nvSpPr>
        <p:spPr>
          <a:xfrm>
            <a:off x="327116" y="3915178"/>
            <a:ext cx="8003424" cy="514693"/>
          </a:xfrm>
          <a:prstGeom prst="rect">
            <a:avLst/>
          </a:prstGeom>
          <a:solidFill>
            <a:srgbClr val="F9FAFB"/>
          </a:solidFill>
        </p:spPr>
        <p:txBody>
          <a:bodyPr wrap="square">
            <a:spAutoFit/>
          </a:bodyPr>
          <a:lstStyle/>
          <a:p>
            <a:pPr defTabSz="457200">
              <a:lnSpc>
                <a:spcPct val="130000"/>
              </a:lnSpc>
              <a:buClrTx/>
              <a:buFontTx/>
              <a:buNone/>
              <a:defRPr sz="1100"/>
            </a:pPr>
            <a:r>
              <a:rPr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• Claude AI (Anthropic) - DAX formula development</a:t>
            </a:r>
            <a:r>
              <a:rPr lang="en-GB"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&amp; </a:t>
            </a:r>
            <a:r>
              <a:rPr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troubleshooting</a:t>
            </a:r>
          </a:p>
          <a:p>
            <a:pPr defTabSz="457200">
              <a:lnSpc>
                <a:spcPct val="130000"/>
              </a:lnSpc>
              <a:buClrTx/>
              <a:buFontTx/>
              <a:buNone/>
              <a:defRPr sz="1100"/>
            </a:pPr>
            <a:r>
              <a:rPr sz="11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• Google Gemini - Data analysis guidance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1531</TotalTime>
  <Words>575</Words>
  <Application>Microsoft Office PowerPoint</Application>
  <PresentationFormat>On-screen Show (16:9)</PresentationFormat>
  <Paragraphs>97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Assistant</vt:lpstr>
      <vt:lpstr>Calibri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Rohi A</dc:creator>
  <cp:lastModifiedBy>Rohi A</cp:lastModifiedBy>
  <cp:revision>9</cp:revision>
  <dcterms:modified xsi:type="dcterms:W3CDTF">2025-12-02T18:36:19Z</dcterms:modified>
</cp:coreProperties>
</file>